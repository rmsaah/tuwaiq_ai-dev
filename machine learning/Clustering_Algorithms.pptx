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9608" autoAdjust="0"/>
  </p:normalViewPr>
  <p:slideViewPr>
    <p:cSldViewPr snapToGrid="0" snapToObjects="1">
      <p:cViewPr varScale="1">
        <p:scale>
          <a:sx n="49" d="100"/>
          <a:sy n="49" d="100"/>
        </p:scale>
        <p:origin x="20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7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240" y="1828800"/>
            <a:ext cx="484632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1430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Algorithms</a:t>
            </a: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be able to do by the end of the lesson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685800" cy="68580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27632" y="1371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Explain what clustering is and how it differs from classification.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7632" y="21945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Apply K-Means, Hierarchical Clustering, </a:t>
            </a:r>
            <a:r>
              <a:rPr lang="en-US" sz="1500" dirty="0" err="1">
                <a:solidFill>
                  <a:srgbClr val="111827"/>
                </a:solidFill>
              </a:rPr>
              <a:t>DBSCAN,conceptually</a:t>
            </a:r>
            <a:r>
              <a:rPr lang="en-US" sz="1500" dirty="0">
                <a:solidFill>
                  <a:srgbClr val="111827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685800" cy="685800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7632" y="3017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Understand distance, similarity, scaling, and feature preparation.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91363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27632" y="38404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Choose the right clustering algorithm based on data shape and assumptions.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4663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Evaluate and interpret clustering results responsibly.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150876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1508760"/>
            <a:ext cx="73152" cy="201168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7104" y="1581912"/>
            <a:ext cx="45354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Key idea: Clustering is not about predicting a known label; it is about discovering structure when labels are not available.</a:t>
            </a:r>
            <a:endParaRPr lang="en-US" sz="17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0" y="3794760"/>
            <a:ext cx="475488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Clustering Fits in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is a core unsupervised learning task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5B64"/>
                </a:solidFill>
              </a:rPr>
              <a:t>Supervised Learning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Data includes X and 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514600"/>
            <a:ext cx="4480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Regression: predict a number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predict a known class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examples have correct answers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4526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Example: Predict whether a student passes using labeled historical data.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6D5B"/>
                </a:solidFill>
              </a:rPr>
              <a:t>Unsupervised Learning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56832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Data includes X 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93408" y="2514600"/>
            <a:ext cx="4480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Clustering: discover hidden groups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Dimensionality reduction: simplify structure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 column is given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3408" y="4526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Example: Segment students into study-behavior groups without labels.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Clustering?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Discovering natural groups in unlabeled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E2A47"/>
                </a:solidFill>
              </a:rPr>
              <a:t>Clustering is the process of grouping data points so that points within the same group are more similar to each other than to points in other groups.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8096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TYPICAL 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926080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or patient segmentation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or image organization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and noise discovery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data analysis before modeling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240" y="1325880"/>
            <a:ext cx="475488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50749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92240" y="5074920"/>
            <a:ext cx="73152" cy="82296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38544" y="5148072"/>
            <a:ext cx="4535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Clustering does not know the “correct” answer. The model proposes groups; humans interpret whether those groups make sense.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vs Classification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distinction: labels vs no labels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693420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" y="12710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Aspect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52544" y="12710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64424" y="12710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Clustering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7860"/>
            <a:ext cx="10835640" cy="6934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" y="196443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Learning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52544" y="196443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Supervised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4424" y="196443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Unsupervised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621280"/>
            <a:ext cx="10835640" cy="69342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265785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Target column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52544" y="265785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Required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64424" y="265785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Not available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314700"/>
            <a:ext cx="10835640" cy="6934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" y="335127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52544" y="335127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Known class label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64424" y="335127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Discovered group 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4008120"/>
            <a:ext cx="10835640" cy="69342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" y="404469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Example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52544" y="404469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Spam / Not Spam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64424" y="404469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Customer segments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4701540"/>
            <a:ext cx="10835640" cy="6934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0664" y="47381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52544" y="47381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Accuracy, F1, Recall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64424" y="4738116"/>
            <a:ext cx="3502152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Silhouette, interpretation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" y="5669280"/>
            <a:ext cx="10469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" y="5669280"/>
            <a:ext cx="73152" cy="59436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4984" y="5742432"/>
            <a:ext cx="10250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 cluster label such as “Cluster 2” is not a real-world class until we interpret it using the data profile.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Similarity and Distance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depends on how we measure “closeness”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6245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d(A,B) = √[(x₂ − x₁)² + (y₂ − y₁)²]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018995"/>
            <a:ext cx="4937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Euclidean distance for two 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916936"/>
            <a:ext cx="502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d(x,y) = √ Σᵢ (xᵢ − yᵢ)²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543300"/>
            <a:ext cx="49377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General form for n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343400"/>
            <a:ext cx="5074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Distance-based algorithms assume that nearby points are more similar. This is why feature scaling is often essential before clustering.</a:t>
            </a:r>
            <a:endParaRPr lang="en-US" sz="1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0" y="1234440"/>
            <a:ext cx="4389120" cy="4069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0" y="557784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83680" y="557784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9984" y="5650992"/>
            <a:ext cx="4169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Other distance measures exist: Manhattan, cosine distance, Jaccard distance, and more. Choose based on data type.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Clustering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pipeline from raw data to interpretable groups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684020" cy="868680"/>
          </a:xfrm>
          <a:prstGeom prst="chevron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Prepare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6124" y="1188720"/>
            <a:ext cx="1684020" cy="8686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89276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6448" y="1188720"/>
            <a:ext cx="1684020" cy="868680"/>
          </a:xfrm>
          <a:prstGeom prst="chevron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19600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Choose 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6772" y="1188720"/>
            <a:ext cx="1684020" cy="8686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9924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Fit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7096" y="1188720"/>
            <a:ext cx="1684020" cy="868680"/>
          </a:xfrm>
          <a:prstGeom prst="chevron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80248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37420" y="1188720"/>
            <a:ext cx="1684020" cy="868680"/>
          </a:xfrm>
          <a:prstGeom prst="chevron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10572" y="1261872"/>
            <a:ext cx="15194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Interpret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KEY QUESTIONS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52120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features describe similarity?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features numeric, categorical, or text?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clusters look spherical, irregular, dense, or hierarchical?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know the expected number of groups?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clusters be used in practice?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2743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743200"/>
            <a:ext cx="73152" cy="100584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21424" y="2816352"/>
            <a:ext cx="44439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Clustering is exploratory. The algorithm provides a structure, but interpretation and validation are essential.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4069080"/>
            <a:ext cx="4663440" cy="422910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9984" y="410565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Output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61704" y="410565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Meaning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75120" y="4491990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9984" y="452856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Cluster ID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61704" y="452856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Algorithmic group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75120" y="4914900"/>
            <a:ext cx="4663440" cy="42291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9984" y="495147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Profile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61704" y="495147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Human interpretation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75120" y="5337810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9984" y="537438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Action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61704" y="5374386"/>
            <a:ext cx="2221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Decision based on segment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for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clustering depends heavily on feature preparation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WHY PREPROCESSING MATTERS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5166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E2A47"/>
                </a:solidFill>
              </a:rPr>
              <a:t>Clustering algorithms compare data points. If features are noisy, unscaled, or irrelevant, the discovered groups may be misleading.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5349240" cy="487680"/>
          </a:xfrm>
          <a:prstGeom prst="rect">
            <a:avLst/>
          </a:prstGeom>
          <a:solidFill>
            <a:srgbClr val="1E5B64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59689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</a:rPr>
              <a:t>Issue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3461004" y="259689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</a:rPr>
              <a:t>Recommended action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31520" y="3048000"/>
            <a:ext cx="53492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308457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Different numeric scales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3461004" y="308457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StandardScaler or MinMaxScaler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31520" y="3535680"/>
            <a:ext cx="534924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" y="357225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Outliers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461004" y="357225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Investigate, cap, remove, or use robust methods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3492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405993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Categorical variables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3461004" y="405993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Encode carefully before distance-based methods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731520" y="4511040"/>
            <a:ext cx="534924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" y="454761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High dimensionality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3461004" y="454761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Feature selection or PCA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31520" y="4998720"/>
            <a:ext cx="53492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" y="503529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Missing values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3461004" y="5035296"/>
            <a:ext cx="25648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827"/>
                </a:solidFill>
              </a:rPr>
              <a:t>Impute or remove before clustering</a:t>
            </a:r>
            <a:endParaRPr lang="en-US" sz="128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0" y="1417320"/>
            <a:ext cx="4480560" cy="2971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583680" y="480060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83680" y="4800600"/>
            <a:ext cx="73152" cy="68580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9984" y="4873752"/>
            <a:ext cx="4261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For K-Means, DBSCAN, Hierarchical Clustering, and PCA, scaling is usually a critical step.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K-Means: Core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the data into K clusters around centroids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51206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E2A47"/>
                </a:solidFill>
              </a:rPr>
              <a:t>K-Means tries to form K groups. Each group is represented by a centroid: the average position of the points assigned to that cluster.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46634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Choose 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Assign each point to the nearest centroid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Move each centroid to the mean of its assigned points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Repeat until assignments stop changing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240" y="1143000"/>
            <a:ext cx="48463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530352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92240" y="5303520"/>
            <a:ext cx="73152" cy="59436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38544" y="5376672"/>
            <a:ext cx="4626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Centroid = the center of a cluster. It is updated repeatedly during training.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Algorithm: Step-by-Step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alternates between assignment and update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450592" cy="822960"/>
          </a:xfrm>
          <a:prstGeom prst="chevron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centroids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11296" y="1097280"/>
            <a:ext cx="2450592" cy="82296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84448" y="11704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 points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 nearest centroid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1097280"/>
            <a:ext cx="2450592" cy="82296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81344" y="11704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Recompute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centroids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05088" y="1097280"/>
            <a:ext cx="2450592" cy="822960"/>
          </a:xfrm>
          <a:prstGeom prst="chevron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0" y="11704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DETAILED EXPLANATION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10058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matters: different starting centroids can lead to different results.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step uses distance, usually Euclidean distance.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step moves centroids to the mean of assigned points.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stops when centroids stabilize or after a maximum number of iterations.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516636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5166360"/>
            <a:ext cx="73152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6424" y="5239512"/>
            <a:ext cx="9838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Scikit-learn uses improved initialization through k-means++ to reduce poor starting points.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Objective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within-cluster squared distances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62456"/>
            <a:ext cx="4846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 = Σₖ Σₓ∈Cₖ || x − μₖ ||²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049170"/>
            <a:ext cx="47548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Objective: keep points close to their cluster centroid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MEANING OF EACH TERM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5029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x: a data point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Cₖ: cluster k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μₖ: centroid of cluster k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||x − μₖ||²: squared distance from the point to the centroid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1234440"/>
            <a:ext cx="44805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</a:rPr>
              <a:t>What K-Means wants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2331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5B64"/>
                </a:solidFill>
              </a:rPr>
              <a:t>Small distances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5B64"/>
                </a:solidFill>
              </a:rPr>
              <a:t>inside clusters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6D5B"/>
                </a:solidFill>
              </a:rPr>
              <a:t>Large separation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26D5B"/>
                </a:solidFill>
              </a:rPr>
              <a:t>between clusters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Number of Clusters 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is not learned automatically by basic K-Means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ELBOW 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Plot the within-cluster sum of squares for different K values. Choose the point where improvement begins to slow down.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D5B"/>
                </a:solidFill>
              </a:rPr>
              <a:t>SILHOUETTE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099816"/>
            <a:ext cx="4846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s(i) = [ b(i) − a(i) ] / max[a(i), b(i)]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605479"/>
            <a:ext cx="4754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Closer to 1 means better separation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754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a(i): average distance to points in the same cluster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b(i): average distance to points in the nearest other cluster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46634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12280" y="1508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Elbow curve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86600" y="4754880"/>
            <a:ext cx="3474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6600" y="2194560"/>
            <a:ext cx="0" cy="2560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86600" y="4754880"/>
            <a:ext cx="640080" cy="0"/>
          </a:xfrm>
          <a:prstGeom prst="line">
            <a:avLst/>
          </a:prstGeom>
          <a:noFill/>
          <a:ln w="381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26680" y="3383280"/>
            <a:ext cx="640080" cy="0"/>
          </a:xfrm>
          <a:prstGeom prst="line">
            <a:avLst/>
          </a:prstGeom>
          <a:noFill/>
          <a:ln w="381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2926080"/>
            <a:ext cx="640080" cy="0"/>
          </a:xfrm>
          <a:prstGeom prst="line">
            <a:avLst/>
          </a:prstGeom>
          <a:noFill/>
          <a:ln w="381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2697480"/>
            <a:ext cx="640080" cy="0"/>
          </a:xfrm>
          <a:prstGeom prst="line">
            <a:avLst/>
          </a:prstGeom>
          <a:noFill/>
          <a:ln w="381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46920" y="2578608"/>
            <a:ext cx="640080" cy="0"/>
          </a:xfrm>
          <a:prstGeom prst="line">
            <a:avLst/>
          </a:prstGeom>
          <a:noFill/>
          <a:ln w="381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4709160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0" y="3337560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21040" y="2880360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0" y="2651760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01200" y="2532888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241280" y="2441448"/>
            <a:ext cx="91440" cy="9144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69880" y="4919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 rot="16200000">
            <a:off x="6675120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WCSS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5641848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641848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75704" y="5715000"/>
            <a:ext cx="4169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The “best” K should be statistically reasonable and meaningful for the application.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K-Means: Strengths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fast, but assumption-dependent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44200" cy="603504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271016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58484" y="1271016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37944"/>
            <a:ext cx="10744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1874520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Simple and easy to implement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58484" y="1874520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Requires choosing 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41448"/>
            <a:ext cx="1074420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2478024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Fast on many datasets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8484" y="2478024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Sensitive to scaling and outliers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044952"/>
            <a:ext cx="10744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3081528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Works well with compact, spherical clusters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58484" y="3081528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Poor for non-spherical or variable-density clusters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48456"/>
            <a:ext cx="1074420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3685032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Easy to explain using centroids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58484" y="3685032"/>
            <a:ext cx="52623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Different initialization may give different results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4800600"/>
            <a:ext cx="10012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4800600"/>
            <a:ext cx="73152" cy="68580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43584" y="4873752"/>
            <a:ext cx="9793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Use K-Means when you expect compact, roughly round clusters and you can justify the number of clusters.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Hierarchical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hierarchy of nested groups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303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E2A47"/>
                </a:solidFill>
              </a:rPr>
              <a:t>Hierarchical clustering creates a tree-like structure called a dendrogram. It can show how individual points merge into larger clusters.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AGGLOMERATIVE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937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with each point as its own cluster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Merge the closest clusters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Repeat until all points form one hierarchy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73152" cy="86868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4416552"/>
            <a:ext cx="4809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Unlike K-Means, hierarchical clustering does not need K at the beginning. You can choose the number of clusters by cutting the dendrogram.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1143000"/>
            <a:ext cx="46177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507492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26680" y="507492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5074920"/>
            <a:ext cx="201168" cy="20116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006840" y="5074920"/>
            <a:ext cx="201168" cy="20116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46920" y="5074920"/>
            <a:ext cx="201168" cy="20116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87000" y="5074920"/>
            <a:ext cx="201168" cy="20116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8718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2726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87184" y="4434840"/>
            <a:ext cx="6400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6734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0742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67344" y="4251960"/>
            <a:ext cx="6400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4750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387584" y="507492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47504" y="4572000"/>
            <a:ext cx="6400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07224" y="443484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787384" y="425196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07224" y="3520440"/>
            <a:ext cx="12801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47304" y="352044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67544" y="4572000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47304" y="2606040"/>
            <a:ext cx="1920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Dendrogram concept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Linkage Methods in Hierarchical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Linkage defines the distance between clusters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621792"/>
          </a:xfrm>
          <a:prstGeom prst="rect">
            <a:avLst/>
          </a:prstGeom>
          <a:solidFill>
            <a:srgbClr val="1E5B64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" y="1179576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Linkage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4352544" y="1179576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How it measures cluster distance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964424" y="1179576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Typical behavior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85800" y="1764792"/>
            <a:ext cx="10835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" y="18013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Single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4352544" y="18013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Closest pair of points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964424" y="18013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Can create chain-like clusters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85800" y="2386584"/>
            <a:ext cx="10835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242316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Complete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4352544" y="242316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Farthest pair of points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964424" y="242316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Creates compact clusters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85800" y="3008376"/>
            <a:ext cx="10835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" y="3044952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Average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4352544" y="3044952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Average distance between points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964424" y="3044952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Balanced compromise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685800" y="3630168"/>
            <a:ext cx="10835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" y="36667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Ward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4352544" y="36667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Minimizes within-cluster variance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964424" y="3666744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Often good for numeric data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10378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4709160"/>
            <a:ext cx="73152" cy="64008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4782312"/>
            <a:ext cx="1015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Changing the linkage method can change the dendrogram and the final clusters. Always state the linkage used.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DBSCAN: Density-Based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dense regions and label sparse points as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5166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E2A47"/>
                </a:solidFill>
              </a:rPr>
              <a:t>DBSCAN groups points that are closely packed together. Points that lie alone in low-density regions can be identified as noise or outliers.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CORE IDEA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48920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are dense areas of points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Outliers do not have enough neighbors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clusters does not need to be specified in advance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73152" cy="68580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459943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DBSCAN is useful when clusters have irregular shapes or when outliers matter.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14300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0" y="21945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89520" y="19659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2860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52360" y="25146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25146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01000" y="214884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63840" y="18745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81160" y="379476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0" y="397764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38360" y="374904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966960" y="406908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72600" y="434340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38360" y="443484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0" y="452628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87000" y="4251960"/>
            <a:ext cx="109728" cy="109728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49640" y="3200400"/>
            <a:ext cx="100584" cy="100584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607040" y="1920240"/>
            <a:ext cx="100584" cy="100584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4846320"/>
            <a:ext cx="100584" cy="100584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95160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</a:rPr>
              <a:t>dense cluster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6D5B"/>
                </a:solidFill>
              </a:rPr>
              <a:t>noise/outliers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DBSCAN Parameters and Point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parameters control density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71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eps (ε): neighborhood radius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686154"/>
            <a:ext cx="4846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How far we look around each 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4597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0E2A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min_samples: minimum neighbors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874874"/>
            <a:ext cx="4846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How many points are needed to form a dense region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POINT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5029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point: has enough neighbors within eps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 point: near a core point but not dense enough itself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point: not reachable from dense regions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188720"/>
            <a:ext cx="4617720" cy="667512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92824" y="1225296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Parameter issue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901684" y="1225296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Possible effect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1856232"/>
            <a:ext cx="46177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92824" y="1892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If eps is too small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01684" y="1892808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Many points become noise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2523744"/>
            <a:ext cx="4617720" cy="667512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92824" y="2560320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If eps is too large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01684" y="2560320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Different clusters may merge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37960" y="3191256"/>
            <a:ext cx="46177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92824" y="3227832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If min_samples is too high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01684" y="3227832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Small clusters disappear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3858768"/>
            <a:ext cx="4617720" cy="667512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92824" y="3895344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If min_samples is too low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01684" y="3895344"/>
            <a:ext cx="2199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Noise may become clusters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37960" y="489204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37960" y="489204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84264" y="4965192"/>
            <a:ext cx="43982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DBSCAN is sensitive to parameter choices, especially when cluster densities vary.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Evaluating Clustering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single “accuracy” without true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INTERNAL 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6634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score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Davies–Bouldin index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Calinski–Harabasz score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Within-cluster sum of squares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D5B"/>
                </a:solidFill>
              </a:rPr>
              <a:t>EXTERNAL 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6634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Rand Index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Mutual Information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only when true labels are available for validation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92240" y="12344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73152" cy="96012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38544" y="1307592"/>
            <a:ext cx="45354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Metric scores should be combined with visual inspection and cluster profiling. A high score can still produce meaningless business groups.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788920"/>
            <a:ext cx="4754880" cy="605790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47104" y="282549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Good clusters usually have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24544" y="282549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Warning signs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3394710"/>
            <a:ext cx="4754880" cy="60579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47104" y="343128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High within-cluster similarity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24544" y="343128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Clusters too small or too large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000500"/>
            <a:ext cx="4754880" cy="60579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47104" y="403707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Clear separation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24544" y="403707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Clusters reflect scale artifacts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606290"/>
            <a:ext cx="4754880" cy="60579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7104" y="464286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Meaningful profiles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24544" y="4642866"/>
            <a:ext cx="2267712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No practical interpretation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Clustering Algorithm Should We Use?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algorithm to the data pattern and objective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27080" cy="647700"/>
          </a:xfrm>
          <a:prstGeom prst="rect">
            <a:avLst/>
          </a:prstGeom>
          <a:solidFill>
            <a:srgbClr val="1E5B64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11795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FFFFF"/>
                </a:solidFill>
              </a:rPr>
              <a:t>Algorithm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4337304" y="11795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FFFFF"/>
                </a:solidFill>
              </a:rPr>
              <a:t>Best when...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7979664" y="11795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FFFFF"/>
                </a:solidFill>
              </a:rPr>
              <a:t>Main caution</a:t>
            </a:r>
            <a:endParaRPr lang="en-US" sz="1330" dirty="0"/>
          </a:p>
        </p:txBody>
      </p:sp>
      <p:sp>
        <p:nvSpPr>
          <p:cNvPr id="8" name="Shape 6"/>
          <p:cNvSpPr/>
          <p:nvPr/>
        </p:nvSpPr>
        <p:spPr>
          <a:xfrm>
            <a:off x="640080" y="1790700"/>
            <a:ext cx="1092708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18272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K-Means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4337304" y="18272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Compact spherical groups and known K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979664" y="18272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Sensitive to scaling/outliers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640080" y="2438400"/>
            <a:ext cx="10927080" cy="64770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24749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Hierarchical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4337304" y="24749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You want a dendrogram or hierarchy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979664" y="24749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Can be slow on large data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40080" y="3086100"/>
            <a:ext cx="1092708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31226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DBSCAN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337304" y="31226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Irregular clusters and noise exist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7979664" y="31226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Sensitive to eps/min_samples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40080" y="3733800"/>
            <a:ext cx="10927080" cy="647700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" y="37703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GMM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337304" y="37703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Overlapping or elliptical clusters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7979664" y="37703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Assumes Gaussian components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640080" y="4381500"/>
            <a:ext cx="1092708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" y="44180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Spectral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337304" y="44180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Complex non-convex shapes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7979664" y="4418076"/>
            <a:ext cx="353263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827"/>
                </a:solidFill>
              </a:rPr>
              <a:t>Computationally heavier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822960" y="54406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5440680"/>
            <a:ext cx="73152" cy="65836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" y="5513832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No clustering algorithm is universally best. The right choice depends on cluster shape, noise, scale, and the purpose of the analysis.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Scikit-learn Pipeline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practical sequence for clustering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WHAT THIS CODE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03720" y="1645920"/>
            <a:ext cx="43891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Scales features so distances are meaningful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Fits K-Means and generates cluster labels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Evaluates cluster separation with silhouette score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Uses PCA to visualize clusters in two dimensions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12280" y="434340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12280" y="43434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58584" y="4416552"/>
            <a:ext cx="4215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Important: if this is part of a supervised pipeline later, fit preprocessing only on training data to avoid leakage.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6B990-DB79-7A3B-EDCF-D8C06AF1AE89}"/>
              </a:ext>
            </a:extLst>
          </p:cNvPr>
          <p:cNvSpPr txBox="1"/>
          <p:nvPr/>
        </p:nvSpPr>
        <p:spPr>
          <a:xfrm>
            <a:off x="502920" y="1117550"/>
            <a:ext cx="5926329" cy="52629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# 1. Import</a:t>
            </a:r>
          </a:p>
          <a:p>
            <a:r>
              <a:rPr lang="en-US" sz="1200" dirty="0">
                <a:solidFill>
                  <a:schemeClr val="bg1"/>
                </a:solidFill>
              </a:rPr>
              <a:t>from </a:t>
            </a:r>
            <a:r>
              <a:rPr lang="en-US" sz="1200" dirty="0" err="1">
                <a:solidFill>
                  <a:schemeClr val="bg1"/>
                </a:solidFill>
              </a:rPr>
              <a:t>sklearn.preprocessing</a:t>
            </a:r>
            <a:r>
              <a:rPr lang="en-US" sz="1200" dirty="0">
                <a:solidFill>
                  <a:schemeClr val="bg1"/>
                </a:solidFill>
              </a:rPr>
              <a:t> import </a:t>
            </a:r>
            <a:r>
              <a:rPr lang="en-US" sz="1200" dirty="0" err="1">
                <a:solidFill>
                  <a:schemeClr val="bg1"/>
                </a:solidFill>
              </a:rPr>
              <a:t>StandardScaler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from </a:t>
            </a:r>
            <a:r>
              <a:rPr lang="en-US" sz="1200" dirty="0" err="1">
                <a:solidFill>
                  <a:schemeClr val="bg1"/>
                </a:solidFill>
              </a:rPr>
              <a:t>sklearn.cluster</a:t>
            </a:r>
            <a:r>
              <a:rPr lang="en-US" sz="1200" dirty="0">
                <a:solidFill>
                  <a:schemeClr val="bg1"/>
                </a:solidFill>
              </a:rPr>
              <a:t> import </a:t>
            </a:r>
            <a:r>
              <a:rPr lang="en-US" sz="1200" dirty="0" err="1">
                <a:solidFill>
                  <a:schemeClr val="bg1"/>
                </a:solidFill>
              </a:rPr>
              <a:t>KMeans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from </a:t>
            </a:r>
            <a:r>
              <a:rPr lang="en-US" sz="1200" dirty="0" err="1">
                <a:solidFill>
                  <a:schemeClr val="bg1"/>
                </a:solidFill>
              </a:rPr>
              <a:t>sklearn.metrics</a:t>
            </a:r>
            <a:r>
              <a:rPr lang="en-US" sz="1200" dirty="0">
                <a:solidFill>
                  <a:schemeClr val="bg1"/>
                </a:solidFill>
              </a:rPr>
              <a:t> import </a:t>
            </a:r>
            <a:r>
              <a:rPr lang="en-US" sz="1200" dirty="0" err="1">
                <a:solidFill>
                  <a:schemeClr val="bg1"/>
                </a:solidFill>
              </a:rPr>
              <a:t>silhouette_score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2. Prepare features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X = </a:t>
            </a:r>
            <a:r>
              <a:rPr lang="en-US" sz="1200" dirty="0" err="1">
                <a:solidFill>
                  <a:schemeClr val="bg1"/>
                </a:solidFill>
              </a:rPr>
              <a:t>df</a:t>
            </a:r>
            <a:r>
              <a:rPr lang="en-US" sz="1200" dirty="0">
                <a:solidFill>
                  <a:schemeClr val="bg1"/>
                </a:solidFill>
              </a:rPr>
              <a:t>[["feature1", "feature2", "feature3"]]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3. Scale</a:t>
            </a:r>
          </a:p>
          <a:p>
            <a:r>
              <a:rPr lang="en-US" sz="1200" dirty="0">
                <a:solidFill>
                  <a:schemeClr val="bg1"/>
                </a:solidFill>
              </a:rPr>
              <a:t>scaler = </a:t>
            </a:r>
            <a:r>
              <a:rPr lang="en-US" sz="1200" dirty="0" err="1">
                <a:solidFill>
                  <a:schemeClr val="bg1"/>
                </a:solidFill>
              </a:rPr>
              <a:t>StandardScaler</a:t>
            </a:r>
            <a:r>
              <a:rPr lang="en-US" sz="1200" dirty="0">
                <a:solidFill>
                  <a:schemeClr val="bg1"/>
                </a:solidFill>
              </a:rPr>
              <a:t>()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X_scaled</a:t>
            </a:r>
            <a:r>
              <a:rPr lang="en-US" sz="1200" dirty="0">
                <a:solidFill>
                  <a:schemeClr val="bg1"/>
                </a:solidFill>
              </a:rPr>
              <a:t> = </a:t>
            </a:r>
            <a:r>
              <a:rPr lang="en-US" sz="1200" dirty="0" err="1">
                <a:solidFill>
                  <a:schemeClr val="bg1"/>
                </a:solidFill>
              </a:rPr>
              <a:t>scaler.fit_transform</a:t>
            </a:r>
            <a:r>
              <a:rPr lang="en-US" sz="1200" dirty="0">
                <a:solidFill>
                  <a:schemeClr val="bg1"/>
                </a:solidFill>
              </a:rPr>
              <a:t>(X)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4. Create model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model = </a:t>
            </a:r>
            <a:r>
              <a:rPr lang="en-US" sz="1200" dirty="0" err="1">
                <a:solidFill>
                  <a:schemeClr val="bg1"/>
                </a:solidFill>
              </a:rPr>
              <a:t>KMeans</a:t>
            </a:r>
            <a:r>
              <a:rPr lang="en-US" sz="1200" dirty="0">
                <a:solidFill>
                  <a:schemeClr val="bg1"/>
                </a:solidFill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</a:t>
            </a:r>
            <a:r>
              <a:rPr lang="en-US" sz="1200" dirty="0" err="1">
                <a:solidFill>
                  <a:schemeClr val="bg1"/>
                </a:solidFill>
              </a:rPr>
              <a:t>n_clusters</a:t>
            </a:r>
            <a:r>
              <a:rPr lang="en-US" sz="1200" dirty="0">
                <a:solidFill>
                  <a:schemeClr val="bg1"/>
                </a:solidFill>
              </a:rPr>
              <a:t>=3,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</a:t>
            </a:r>
            <a:r>
              <a:rPr lang="en-US" sz="1200" dirty="0" err="1">
                <a:solidFill>
                  <a:schemeClr val="bg1"/>
                </a:solidFill>
              </a:rPr>
              <a:t>random_state</a:t>
            </a:r>
            <a:r>
              <a:rPr lang="en-US" sz="1200" dirty="0">
                <a:solidFill>
                  <a:schemeClr val="bg1"/>
                </a:solidFill>
              </a:rPr>
              <a:t>=42</a:t>
            </a:r>
          </a:p>
          <a:p>
            <a:r>
              <a:rPr lang="en-US" sz="1200" dirty="0">
                <a:solidFill>
                  <a:schemeClr val="bg1"/>
                </a:solidFill>
              </a:rPr>
              <a:t>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5. Fit + get cluster labels</a:t>
            </a:r>
          </a:p>
          <a:p>
            <a:r>
              <a:rPr lang="en-US" sz="1200" dirty="0">
                <a:solidFill>
                  <a:schemeClr val="bg1"/>
                </a:solidFill>
              </a:rPr>
              <a:t>labels = </a:t>
            </a:r>
            <a:r>
              <a:rPr lang="en-US" sz="1200" dirty="0" err="1">
                <a:solidFill>
                  <a:schemeClr val="bg1"/>
                </a:solidFill>
              </a:rPr>
              <a:t>model.fit_predict</a:t>
            </a:r>
            <a:r>
              <a:rPr lang="en-US" sz="1200" dirty="0">
                <a:solidFill>
                  <a:schemeClr val="bg1"/>
                </a:solidFill>
              </a:rPr>
              <a:t>(</a:t>
            </a:r>
            <a:r>
              <a:rPr lang="en-US" sz="1200" dirty="0" err="1">
                <a:solidFill>
                  <a:schemeClr val="bg1"/>
                </a:solidFill>
              </a:rPr>
              <a:t>X_scaled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6. Add clusters to </a:t>
            </a:r>
            <a:r>
              <a:rPr lang="en-US" sz="1200" dirty="0" err="1">
                <a:solidFill>
                  <a:schemeClr val="bg1"/>
                </a:solidFill>
              </a:rPr>
              <a:t>dataframe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 err="1">
                <a:solidFill>
                  <a:schemeClr val="bg1"/>
                </a:solidFill>
              </a:rPr>
              <a:t>df</a:t>
            </a:r>
            <a:r>
              <a:rPr lang="en-US" sz="1200" dirty="0">
                <a:solidFill>
                  <a:schemeClr val="bg1"/>
                </a:solidFill>
              </a:rPr>
              <a:t>["Cluster"] = labels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# 7. Evaluate</a:t>
            </a:r>
          </a:p>
          <a:p>
            <a:r>
              <a:rPr lang="en-US" sz="1200" dirty="0">
                <a:solidFill>
                  <a:schemeClr val="bg1"/>
                </a:solidFill>
              </a:rPr>
              <a:t>score = </a:t>
            </a:r>
            <a:r>
              <a:rPr lang="en-US" sz="1200" dirty="0" err="1">
                <a:solidFill>
                  <a:schemeClr val="bg1"/>
                </a:solidFill>
              </a:rPr>
              <a:t>silhouette_score</a:t>
            </a:r>
            <a:r>
              <a:rPr lang="en-US" sz="1200" dirty="0">
                <a:solidFill>
                  <a:schemeClr val="bg1"/>
                </a:solidFill>
              </a:rPr>
              <a:t>(</a:t>
            </a:r>
            <a:r>
              <a:rPr lang="en-US" sz="1200" dirty="0" err="1">
                <a:solidFill>
                  <a:schemeClr val="bg1"/>
                </a:solidFill>
              </a:rPr>
              <a:t>X_scaled</a:t>
            </a:r>
            <a:r>
              <a:rPr lang="en-US" sz="1200" dirty="0">
                <a:solidFill>
                  <a:schemeClr val="bg1"/>
                </a:solidFill>
              </a:rPr>
              <a:t>, labels)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print("Silhouette Score:", score)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project: clustering a real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B64"/>
                </a:solidFill>
              </a:rPr>
              <a:t>TASK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98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E2A47"/>
                </a:solidFill>
              </a:rPr>
              <a:t>Students apply at least two clustering algorithms to a dataset and compare the results using preprocessing, metrics, and interpretation.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10652760" cy="489857"/>
          </a:xfrm>
          <a:prstGeom prst="rect">
            <a:avLst/>
          </a:prstGeom>
          <a:solidFill>
            <a:srgbClr val="0E2A47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2104" y="2368296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Required step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6158484" y="2368296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Expected output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777240" y="2821577"/>
            <a:ext cx="10652760" cy="489857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2104" y="2858153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Choose a dataset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158484" y="2858153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Numeric features and clear analysis goal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77240" y="3311434"/>
            <a:ext cx="10652760" cy="489857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" y="3348010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Preprocess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6158484" y="3348010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Missing values handled; scaling applied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777240" y="3801291"/>
            <a:ext cx="10652760" cy="489857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" y="3837867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Fit algorithms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158484" y="3837867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K-Means + one other method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777240" y="4291149"/>
            <a:ext cx="10652760" cy="489857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2104" y="4327725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Evaluate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6158484" y="4327725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Silhouette score and visual inspection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777240" y="4781006"/>
            <a:ext cx="10652760" cy="489857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" y="4817582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Interpret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6158484" y="4817582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Cluster profiles and practical meaning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777240" y="5270863"/>
            <a:ext cx="10652760" cy="489857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" y="5307439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Present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158484" y="5307439"/>
            <a:ext cx="5216652" cy="4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827"/>
                </a:solidFill>
              </a:rPr>
              <a:t>Short comparison and recommendation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remember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685800" cy="685800"/>
          </a:xfrm>
          <a:prstGeom prst="ellipse">
            <a:avLst/>
          </a:prstGeom>
          <a:solidFill>
            <a:srgbClr val="1E5B64"/>
          </a:solidFill>
          <a:ln w="12700">
            <a:solidFill>
              <a:srgbClr val="1E5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27632" y="1188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Clustering discovers groups when labels are not available.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7632" y="2011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Distance and similarity define what “grouped together” means.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685800" cy="685800"/>
          </a:xfrm>
          <a:prstGeom prst="ellipse">
            <a:avLst/>
          </a:prstGeom>
          <a:solidFill>
            <a:srgbClr val="3BA272"/>
          </a:solidFill>
          <a:ln w="12700">
            <a:solidFill>
              <a:srgbClr val="3BA2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9077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7632" y="2834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Scaling is essential for many clustering algorithms.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30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27632" y="3657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K-Means is fast but assumes compact clusters and needs 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537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44805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DBSCAN finds dense clusters and noise; GMM gives probabilistic clusters.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13716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1371600"/>
            <a:ext cx="73152" cy="1234440"/>
          </a:xfrm>
          <a:prstGeom prst="rect">
            <a:avLst/>
          </a:prstGeom>
          <a:solidFill>
            <a:srgbClr val="1E5B64"/>
          </a:solidFill>
          <a:ln w="12700">
            <a:solidFill>
              <a:srgbClr val="1E5B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7104" y="1444752"/>
            <a:ext cx="45354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Clustering is useful only when we can interpret the groups and connect them to a decision, insight, or action.</a:t>
            </a:r>
            <a:endParaRPr lang="en-US" sz="1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0" y="3063240"/>
            <a:ext cx="4754880" cy="2423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65683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Clustering Algorithms • University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2138</Words>
  <Application>Microsoft Office PowerPoint</Application>
  <PresentationFormat>Widescreen</PresentationFormat>
  <Paragraphs>407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Algorithms</dc:title>
  <dc:subject>Clustering Algorithms University Lecture</dc:subject>
  <dc:creator>OpenAI</dc:creator>
  <cp:lastModifiedBy>Eng.Maha Altalk</cp:lastModifiedBy>
  <cp:revision>4</cp:revision>
  <dcterms:created xsi:type="dcterms:W3CDTF">2026-05-20T13:00:35Z</dcterms:created>
  <dcterms:modified xsi:type="dcterms:W3CDTF">2026-08-10T16:34:45Z</dcterms:modified>
</cp:coreProperties>
</file>