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574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A7C8C"/>
                </a:solidFill>
                <a:latin typeface="Arial"/>
              </a:rPr>
              <a:t>MACHINE LEARNING  ·  CLUSTERING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0604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300" b="1" i="0">
                <a:solidFill>
                  <a:srgbClr val="33383D"/>
                </a:solidFill>
                <a:latin typeface="Arial"/>
              </a:rPr>
              <a:t>Sorting 28,351 songs</a:t>
            </a:r>
          </a:p>
          <a:p>
            <a:pPr algn="l">
              <a:lnSpc>
                <a:spcPct val="110000"/>
              </a:lnSpc>
            </a:pPr>
            <a:r>
              <a:rPr sz="4300" b="1" i="0">
                <a:solidFill>
                  <a:srgbClr val="33383D"/>
                </a:solidFill>
                <a:latin typeface="Arial"/>
              </a:rPr>
              <a:t>by how they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43484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7A8288"/>
                </a:solidFill>
                <a:latin typeface="Arial"/>
              </a:rPr>
              <a:t>Nobody told the computer what a genre is. We handed it nine numbers per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0" i="0">
                <a:solidFill>
                  <a:srgbClr val="7A8288"/>
                </a:solidFill>
                <a:latin typeface="Arial"/>
              </a:rPr>
              <a:t>song and asked it to find the groups on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150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7C8C"/>
                </a:solidFill>
                <a:latin typeface="Arial"/>
              </a:rPr>
              <a:t>K-Means  ·  Gaussian Mixture  ·  Spotify audio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C8C"/>
                </a:solidFill>
                <a:latin typeface="Arial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3383D"/>
                </a:solidFill>
                <a:latin typeface="Arial"/>
              </a:rPr>
              <a:t>What clustering actually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81912"/>
            <a:ext cx="566928" cy="41148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6815"/>
            <a:ext cx="5852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33383D"/>
                </a:solidFill>
                <a:latin typeface="Arial"/>
              </a:rPr>
              <a:t>Imagine emptying a box of Lego on the floor.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sz="1700" b="0" i="0">
                <a:solidFill>
                  <a:srgbClr val="7A8288"/>
                </a:solidFill>
                <a:latin typeface="Arial"/>
              </a:rPr>
              <a:t>Nobody labelled anything. But you'd still start making piles — the flat ones here, the little ones there, the weird bendy ones in their own corner.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sz="1700" b="0" i="0">
                <a:solidFill>
                  <a:srgbClr val="7A8288"/>
                </a:solidFill>
                <a:latin typeface="Arial"/>
              </a:rPr>
              <a:t>You didn't know the piles existed before you started. You found them by looking at what's similar.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800" b="1" i="0">
                <a:solidFill>
                  <a:srgbClr val="33383D"/>
                </a:solidFill>
                <a:latin typeface="Arial"/>
              </a:rPr>
              <a:t>That's clustering. Our Lego pieces are songs.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911095"/>
            <a:ext cx="4480560" cy="141732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42048" y="2167127"/>
            <a:ext cx="38953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There is no right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532887"/>
            <a:ext cx="38953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No labels, no accuracy score, nothing to be marked against. Just piles, and whether they make sense.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529583"/>
            <a:ext cx="4480560" cy="141732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242048" y="3785615"/>
            <a:ext cx="38953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So how do we know it worked?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4151376"/>
            <a:ext cx="389534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Two ways: a number called silhouette, and whether we can look at a pile and give it a 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clustering spotify songs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C8C"/>
                </a:solidFill>
                <a:latin typeface="Arial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3383D"/>
                </a:solidFill>
                <a:latin typeface="Arial"/>
              </a:rPr>
              <a:t>What we fed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81912"/>
            <a:ext cx="566928" cy="41148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7A8288"/>
                </a:solidFill>
                <a:latin typeface="Arial"/>
              </a:rPr>
              <a:t>Same Spotify dataset from the EDA project, cleaned the same 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59736"/>
            <a:ext cx="3401568" cy="169164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9848" y="2715768"/>
            <a:ext cx="28163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A7C8C"/>
                </a:solidFill>
                <a:latin typeface="Arial"/>
              </a:rPr>
              <a:t>28,351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319272"/>
            <a:ext cx="2816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songs, after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685032"/>
            <a:ext cx="28163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Dropped 5 rows with no title, one 4-second track, and every duplicate.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59736"/>
            <a:ext cx="3401568" cy="169164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81728" y="2715768"/>
            <a:ext cx="28163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A7C8C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319272"/>
            <a:ext cx="2816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numbers per song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685032"/>
            <a:ext cx="28163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danceability, energy, tempo, valence, acousticness and four more.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459736"/>
            <a:ext cx="3401568" cy="169164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93608" y="2715768"/>
            <a:ext cx="28163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A7C8C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319272"/>
            <a:ext cx="2816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of it we hid from the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685032"/>
            <a:ext cx="28163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The genre label. That was our answer key, saved for the 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17136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3383D"/>
                </a:solidFill>
                <a:latin typeface="Arial"/>
              </a:rPr>
              <a:t>Three things we deliberately left out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</a:pPr>
            <a:r>
              <a:rPr sz="1550" b="0" i="0">
                <a:solidFill>
                  <a:srgbClr val="7A8288"/>
                </a:solidFill>
                <a:latin typeface="Arial"/>
              </a:rPr>
              <a:t>loudness   —   it moves almost perfectly with energy, so it was the same fact counted twice.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550" b="0" i="0">
                <a:solidFill>
                  <a:srgbClr val="7A8288"/>
                </a:solidFill>
                <a:latin typeface="Arial"/>
              </a:rPr>
              <a:t>key and mode   —   they're categories. The distance from "key 3" to "key 7" doesn't mean anything.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550" b="0" i="0">
                <a:solidFill>
                  <a:srgbClr val="7A8288"/>
                </a:solidFill>
                <a:latin typeface="Arial"/>
              </a:rPr>
              <a:t>popularity   —   that's a result, not a sound. We checked it afterwards instead.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clustering spotify songs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C8C"/>
                </a:solidFill>
                <a:latin typeface="Arial"/>
              </a:rPr>
              <a:t>STEP 1  · 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3383D"/>
                </a:solidFill>
                <a:latin typeface="Arial"/>
              </a:rPr>
              <a:t>First problem: tempo was shouting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81912"/>
            <a:ext cx="566928" cy="41148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11095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7A8288"/>
                </a:solidFill>
                <a:latin typeface="Arial"/>
              </a:rPr>
              <a:t>Tempo runs from 35 to 239. Danceability runs from 0 to 1. Clustering works on distance, so tempo alone would have decided every single group.</a:t>
            </a:r>
          </a:p>
        </p:txBody>
      </p:sp>
      <p:pic>
        <p:nvPicPr>
          <p:cNvPr id="7" name="Picture 6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2741733"/>
            <a:ext cx="10607040" cy="27461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83D"/>
                </a:solidFill>
                <a:latin typeface="Arial"/>
              </a:rPr>
              <a:t>StandardScaler rewrites every feature as "how far from average". Now all nine argue at the same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clustering spotify songs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C8C"/>
                </a:solidFill>
                <a:latin typeface="Arial"/>
              </a:rPr>
              <a:t>STEP 2  ·  CHOOSING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3383D"/>
                </a:solidFill>
                <a:latin typeface="Arial"/>
              </a:rPr>
              <a:t>Second problem: how many piles?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81912"/>
            <a:ext cx="566928" cy="41148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11095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7A8288"/>
                </a:solidFill>
                <a:latin typeface="Arial"/>
              </a:rPr>
              <a:t>K-Means makes you say the number up front. So we tried every k from 2 to 10 and looked at two things.</a:t>
            </a:r>
          </a:p>
        </p:txBody>
      </p:sp>
      <p:pic>
        <p:nvPicPr>
          <p:cNvPr id="7" name="Picture 6" descr="choose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87" y="2619834"/>
            <a:ext cx="10332720" cy="26698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4406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3383D"/>
                </a:solidFill>
                <a:latin typeface="Arial"/>
              </a:rPr>
              <a:t>Elbow: when does it stop helping?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450" b="0" i="0">
                <a:solidFill>
                  <a:srgbClr val="7A8288"/>
                </a:solidFill>
                <a:latin typeface="Arial"/>
              </a:rPr>
              <a:t>Each new group tightens the piles less than the last one did. After 6, barely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44068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3383D"/>
                </a:solidFill>
                <a:latin typeface="Arial"/>
              </a:rPr>
              <a:t>Silhouette: which k separates best?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450" b="0" i="0">
                <a:solidFill>
                  <a:srgbClr val="7A8288"/>
                </a:solidFill>
                <a:latin typeface="Arial"/>
              </a:rPr>
              <a:t>Peaks at 6, then falls off a cliff at 7. Both point the same way, so k = 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clustering spotify songs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C8C"/>
                </a:solidFill>
                <a:latin typeface="Arial"/>
              </a:rPr>
              <a:t>STEP 3  ·  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3383D"/>
                </a:solidFill>
                <a:latin typeface="Arial"/>
              </a:rPr>
              <a:t>Two algorithms, same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81912"/>
            <a:ext cx="566928" cy="41148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7A8288"/>
                </a:solidFill>
                <a:latin typeface="Arial"/>
              </a:rPr>
              <a:t>The activity asked for K-Means plus one more. We picked the one that could actually disagree with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59736"/>
            <a:ext cx="5138928" cy="233172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9848" y="2715768"/>
            <a:ext cx="4553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K-Means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081528"/>
            <a:ext cx="455371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Drops 6 markers, everyone joins the nearest one, markers shuffle, repeat until nobody moves.</a:t>
            </a:r>
          </a:p>
          <a:p>
            <a:pPr algn="l">
              <a:lnSpc>
                <a:spcPct val="116000"/>
              </a:lnSpc>
              <a:spcBef>
                <a:spcPts val="800"/>
              </a:spcBef>
            </a:pPr>
            <a:r>
              <a:rPr sz="1350" b="0" i="0">
                <a:solidFill>
                  <a:srgbClr val="7A8288"/>
                </a:solidFill>
                <a:latin typeface="Arial"/>
              </a:rPr>
              <a:t>Assumes the piles are round and roughly the same size.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5624" y="2459736"/>
            <a:ext cx="5138928" cy="233172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28232" y="2715768"/>
            <a:ext cx="4553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Gaussian Mixture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3081528"/>
            <a:ext cx="455371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Assumes the data is a stack of overlapping bell curves and works out which bell made each song.</a:t>
            </a:r>
          </a:p>
          <a:p>
            <a:pPr algn="l">
              <a:lnSpc>
                <a:spcPct val="116000"/>
              </a:lnSpc>
              <a:spcBef>
                <a:spcPts val="800"/>
              </a:spcBef>
            </a:pPr>
            <a:r>
              <a:rPr sz="1350" b="0" i="0">
                <a:solidFill>
                  <a:srgbClr val="7A8288"/>
                </a:solidFill>
                <a:latin typeface="Arial"/>
              </a:rPr>
              <a:t>Allows stretched, lopsided, overlapping piles.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114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3383D"/>
                </a:solidFill>
                <a:latin typeface="Arial"/>
              </a:rPr>
              <a:t>Why bother with the second one?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50" b="0" i="0">
                <a:solidFill>
                  <a:srgbClr val="7A8288"/>
                </a:solidFill>
                <a:latin typeface="Arial"/>
              </a:rPr>
              <a:t>If our groups really were long stretched shapes, GMM would have won and we'd know K-Means was the wrong tool. That makes it a real test rather than box-ticking.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clustering spotify songs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C8C"/>
                </a:solidFill>
                <a:latin typeface="Arial"/>
              </a:rPr>
              <a:t>STEP 4  ·  LOOKING AT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3383D"/>
                </a:solidFill>
                <a:latin typeface="Arial"/>
              </a:rPr>
              <a:t>And the winner is fairly obvious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81912"/>
            <a:ext cx="566928" cy="41148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11095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7A8288"/>
                </a:solidFill>
                <a:latin typeface="Arial"/>
              </a:rPr>
              <a:t>Nine dimensions can't be drawn, so PCA squashed them to two. Think of it as walking around the data and finding the best angle for a flat photo.</a:t>
            </a:r>
          </a:p>
        </p:txBody>
      </p:sp>
      <p:pic>
        <p:nvPicPr>
          <p:cNvPr id="7" name="Picture 6" descr="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76" y="2514600"/>
            <a:ext cx="10112943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50468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3383D"/>
                </a:solidFill>
                <a:latin typeface="Arial"/>
              </a:rPr>
              <a:t>Left: every colour holds its own territory. Right: confetti.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400" b="0" i="0">
                <a:solidFill>
                  <a:srgbClr val="7A8288"/>
                </a:solidFill>
                <a:latin typeface="Arial"/>
              </a:rPr>
              <a:t>Fair warning — this photo only carries 36% of the real spread, so treat it as a sanity check, not proof.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clustering spotify songs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C8C"/>
                </a:solidFill>
                <a:latin typeface="Arial"/>
              </a:rP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3383D"/>
                </a:solidFill>
                <a:latin typeface="Arial"/>
              </a:rPr>
              <a:t>Six groups, and each one has a personality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81912"/>
            <a:ext cx="566928" cy="41148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925865"/>
            <a:ext cx="10607040" cy="32348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3035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33383D"/>
                </a:solidFill>
                <a:latin typeface="Arial"/>
              </a:rPr>
              <a:t>Read the dark squares. Every group is defined by one feature going loud.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450" b="0" i="0">
                <a:solidFill>
                  <a:srgbClr val="7A8288"/>
                </a:solidFill>
                <a:latin typeface="Arial"/>
              </a:rPr>
              <a:t>instrumentalness +2.82 → instrumental.   liveness +2.69 → live recordings.   speechiness +1.99 → rap.   acousticness +1.87 → acoustic and calm.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clustering spotify songs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C8C"/>
                </a:solidFill>
                <a:latin typeface="Arial"/>
              </a:rP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3383D"/>
                </a:solidFill>
                <a:latin typeface="Arial"/>
              </a:rPr>
              <a:t>How the songs split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81912"/>
            <a:ext cx="566928" cy="41148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2031198"/>
            <a:ext cx="9875520" cy="26584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4828032"/>
            <a:ext cx="5138928" cy="1298448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9848" y="5084064"/>
            <a:ext cx="4553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The biggest pile is the happy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5449824"/>
            <a:ext cx="4553712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9,270 songs — upbeat, danceable, high valence. Roughly a third of everything.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5624" y="4828032"/>
            <a:ext cx="5138928" cy="1298448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28232" y="5084064"/>
            <a:ext cx="4553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The most popular pile is the quiet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5449824"/>
            <a:ext cx="4553712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Acoustic and calm averages 42.7 popularity. Instrumental comes last at 29.7.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clustering spotify songs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C8C"/>
                </a:solidFill>
                <a:latin typeface="Arial"/>
              </a:rPr>
              <a:t>THE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3383D"/>
                </a:solidFill>
                <a:latin typeface="Arial"/>
              </a:rPr>
              <a:t>So did it rediscover the genres?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81912"/>
            <a:ext cx="566928" cy="41148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7A8288"/>
                </a:solidFill>
                <a:latin typeface="Arial"/>
              </a:rPr>
              <a:t>We never showed it the genre column. Afterwards, we looked.</a:t>
            </a:r>
          </a:p>
        </p:txBody>
      </p:sp>
      <p:pic>
        <p:nvPicPr>
          <p:cNvPr id="7" name="Picture 6" descr="ge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604" y="2286000"/>
            <a:ext cx="8708485" cy="30632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43153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3383D"/>
                </a:solidFill>
                <a:latin typeface="Arial"/>
              </a:rPr>
              <a:t>Partly. Rap and edm, yes. Everything else, no.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450" b="0" i="0">
                <a:solidFill>
                  <a:srgbClr val="7A8288"/>
                </a:solidFill>
                <a:latin typeface="Arial"/>
              </a:rPr>
              <a:t>Rap has a sound signature (it's speech) and edm has one (it's instrumental), so those fell out cleanly. Pop, latin and rock smear across every group — because the genre label belongs to the playlist, not to the song.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clustering spotify songs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C8C"/>
                </a:solidFill>
                <a:latin typeface="Arial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3383D"/>
                </a:solidFill>
                <a:latin typeface="Arial"/>
              </a:rPr>
              <a:t>The part we're not going to hide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81912"/>
            <a:ext cx="566928" cy="41148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11095"/>
            <a:ext cx="6400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i="0">
                <a:solidFill>
                  <a:srgbClr val="33383D"/>
                </a:solidFill>
                <a:latin typeface="Arial"/>
              </a:rPr>
              <a:t>Our silhouette score is 0.155. On a scale where 0.7 means clean gaps between groups, that's low.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</a:pPr>
            <a:r>
              <a:rPr sz="1600" b="0" i="0">
                <a:solidFill>
                  <a:srgbClr val="7A8288"/>
                </a:solidFill>
                <a:latin typeface="Arial"/>
              </a:rPr>
              <a:t>It isn't a bug. Songs don't come in islands — there is no empty space between "danceable" and "very danceable". Audio features slide into each other.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</a:pPr>
            <a:r>
              <a:rPr sz="1700" b="1" i="0">
                <a:solidFill>
                  <a:srgbClr val="33383D"/>
                </a:solidFill>
                <a:latin typeface="Arial"/>
              </a:rPr>
              <a:t>So K-Means didn't find gaps. It cut one big cloud into six useful regions.</a:t>
            </a:r>
          </a:p>
          <a:p>
            <a:pPr algn="l">
              <a:lnSpc>
                <a:spcPct val="128000"/>
              </a:lnSpc>
              <a:spcBef>
                <a:spcPts val="1100"/>
              </a:spcBef>
            </a:pPr>
            <a:r>
              <a:rPr sz="1600" b="0" i="0">
                <a:solidFill>
                  <a:srgbClr val="7A8288"/>
                </a:solidFill>
                <a:latin typeface="Arial"/>
              </a:rPr>
              <a:t>The regions still earn their keep: each has one defining feature, a name, and a genre it leans towards. That's the bit that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911095"/>
            <a:ext cx="3977639" cy="123444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44968" y="2167127"/>
            <a:ext cx="33924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0.7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2532887"/>
            <a:ext cx="33924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clear gaps between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346703"/>
            <a:ext cx="3977639" cy="123444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44968" y="3602735"/>
            <a:ext cx="33924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0.155  ←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3968496"/>
            <a:ext cx="3392423" cy="320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groups touch each other everywhere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4736592"/>
            <a:ext cx="3977639" cy="137160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44968" y="4992624"/>
            <a:ext cx="33924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below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5358384"/>
            <a:ext cx="3392423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songs sitting in the wrong group. This is where GMM landed.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clustering spotify songs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C8C"/>
                </a:solidFill>
                <a:latin typeface="Arial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3383D"/>
                </a:solidFill>
                <a:latin typeface="Arial"/>
              </a:rPr>
              <a:t>What we'd actually do with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81912"/>
            <a:ext cx="566928" cy="41148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56815"/>
            <a:ext cx="5138928" cy="214884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9848" y="2212847"/>
            <a:ext cx="4553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Use K-Means, k =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78607"/>
            <a:ext cx="455371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Higher silhouette, and every group can be named. GMM's six groups came out looking almost identical to each other — nothing to call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1956815"/>
            <a:ext cx="5138928" cy="2148840"/>
          </a:xfrm>
          <a:prstGeom prst="roundRect">
            <a:avLst>
              <a:gd name="adj" fmla="val 5500"/>
            </a:avLst>
          </a:prstGeom>
          <a:solidFill>
            <a:srgbClr val="F3F7F8"/>
          </a:solidFill>
          <a:ln w="12700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28232" y="2212847"/>
            <a:ext cx="4553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83D"/>
                </a:solidFill>
                <a:latin typeface="Arial"/>
              </a:rPr>
              <a:t>Good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578607"/>
            <a:ext cx="455371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7A8288"/>
                </a:solidFill>
                <a:latin typeface="Arial"/>
              </a:rPr>
              <a:t>Seeding playlists by mood. "More like this" recommendations. Tagging a catalogue by how things sound instead of by genre.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43983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3383D"/>
                </a:solidFill>
                <a:latin typeface="Arial"/>
              </a:rPr>
              <a:t>Not good for: guessing what will be a hit.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50" b="0" i="0">
                <a:solidFill>
                  <a:srgbClr val="7A8288"/>
                </a:solidFill>
                <a:latin typeface="Arial"/>
              </a:rPr>
              <a:t>Cluster popularity only ranges from 29.7 to 42.7. Real, but small — and the EDA already showed no audio feature predicts a hit. What a song sounds like is not what makes it travel.</a:t>
            </a:r>
          </a:p>
          <a:p>
            <a:pPr algn="l">
              <a:lnSpc>
                <a:spcPct val="125000"/>
              </a:lnSpc>
              <a:spcBef>
                <a:spcPts val="1300"/>
              </a:spcBef>
            </a:pPr>
            <a:r>
              <a:rPr sz="1550" b="0" i="0">
                <a:solidFill>
                  <a:srgbClr val="7A8288"/>
                </a:solidFill>
                <a:latin typeface="Arial"/>
              </a:rPr>
              <a:t>One thing we'd fix first: our cluster names are hard-coded to the numbers 0–5. Change a setting and the numbers shuffle while the names stay 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clustering spotify songs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A828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